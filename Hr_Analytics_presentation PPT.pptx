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88" r:id="rId4"/>
  </p:sldMasterIdLst>
  <p:notesMasterIdLst>
    <p:notesMasterId r:id="rId25"/>
  </p:notesMasterIdLst>
  <p:handoutMasterIdLst>
    <p:handoutMasterId r:id="rId26"/>
  </p:handoutMasterIdLst>
  <p:sldIdLst>
    <p:sldId id="317" r:id="rId5"/>
    <p:sldId id="352" r:id="rId6"/>
    <p:sldId id="353" r:id="rId7"/>
    <p:sldId id="340" r:id="rId8"/>
    <p:sldId id="341" r:id="rId9"/>
    <p:sldId id="343" r:id="rId10"/>
    <p:sldId id="342" r:id="rId11"/>
    <p:sldId id="344" r:id="rId12"/>
    <p:sldId id="345" r:id="rId13"/>
    <p:sldId id="346" r:id="rId14"/>
    <p:sldId id="347" r:id="rId15"/>
    <p:sldId id="348" r:id="rId16"/>
    <p:sldId id="335" r:id="rId17"/>
    <p:sldId id="329" r:id="rId18"/>
    <p:sldId id="332" r:id="rId19"/>
    <p:sldId id="333" r:id="rId20"/>
    <p:sldId id="334" r:id="rId21"/>
    <p:sldId id="349" r:id="rId22"/>
    <p:sldId id="350" r:id="rId23"/>
    <p:sldId id="35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664F431-18B8-4D90-A5B1-9B645750180B}">
          <p14:sldIdLst>
            <p14:sldId id="317"/>
            <p14:sldId id="352"/>
            <p14:sldId id="353"/>
            <p14:sldId id="340"/>
            <p14:sldId id="341"/>
            <p14:sldId id="343"/>
            <p14:sldId id="342"/>
            <p14:sldId id="344"/>
            <p14:sldId id="345"/>
            <p14:sldId id="346"/>
            <p14:sldId id="347"/>
            <p14:sldId id="348"/>
            <p14:sldId id="335"/>
            <p14:sldId id="329"/>
            <p14:sldId id="332"/>
            <p14:sldId id="333"/>
            <p14:sldId id="334"/>
            <p14:sldId id="349"/>
            <p14:sldId id="35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321" userDrawn="1">
          <p15:clr>
            <a:srgbClr val="A4A3A4"/>
          </p15:clr>
        </p15:guide>
        <p15:guide id="4" orient="horz" pos="3181" userDrawn="1">
          <p15:clr>
            <a:srgbClr val="A4A3A4"/>
          </p15:clr>
        </p15:guide>
        <p15:guide id="5" orient="horz" pos="30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B12"/>
    <a:srgbClr val="000000"/>
    <a:srgbClr val="636A58"/>
    <a:srgbClr val="505A47"/>
    <a:srgbClr val="D1D8B7"/>
    <a:srgbClr val="A09D79"/>
    <a:srgbClr val="AD5C4D"/>
    <a:srgbClr val="543E35"/>
    <a:srgbClr val="637700"/>
    <a:srgbClr val="FFF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457" autoAdjust="0"/>
  </p:normalViewPr>
  <p:slideViewPr>
    <p:cSldViewPr snapToGrid="0">
      <p:cViewPr varScale="1">
        <p:scale>
          <a:sx n="65" d="100"/>
          <a:sy n="65" d="100"/>
        </p:scale>
        <p:origin x="936" y="72"/>
      </p:cViewPr>
      <p:guideLst>
        <p:guide orient="horz" pos="550"/>
        <p:guide pos="3863"/>
        <p:guide orient="horz" pos="1321"/>
        <p:guide orient="horz" pos="3181"/>
        <p:guide orient="horz" pos="3022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%20Probook\AppData\Local\Microsoft\Windows\INetCache\IE\LPSA5VNT\HR_Attrition_Analysis%5b1%5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[HR_Attrition_Analysis(1).xlsx]Attrition_Rate_vs_Dept!PivotTable7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Attrition Rate by Department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accent2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Attrition_Rate_vs_Dept!$B$3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Attrition_Rate_vs_Dept!$A$4:$A$10</c:f>
              <c:strCache>
                <c:ptCount val="6"/>
                <c:pt idx="0">
                  <c:v>Hardware</c:v>
                </c:pt>
                <c:pt idx="1">
                  <c:v>Human Resources</c:v>
                </c:pt>
                <c:pt idx="2">
                  <c:v>Research &amp; Development</c:v>
                </c:pt>
                <c:pt idx="3">
                  <c:v>Sales</c:v>
                </c:pt>
                <c:pt idx="4">
                  <c:v>Software</c:v>
                </c:pt>
                <c:pt idx="5">
                  <c:v>Support</c:v>
                </c:pt>
              </c:strCache>
            </c:strRef>
          </c:cat>
          <c:val>
            <c:numRef>
              <c:f>Attrition_Rate_vs_Dept!$B$4:$B$10</c:f>
              <c:numCache>
                <c:formatCode>0.00%</c:formatCode>
                <c:ptCount val="6"/>
                <c:pt idx="0">
                  <c:v>0.49443016281062552</c:v>
                </c:pt>
                <c:pt idx="1">
                  <c:v>0.49857448325017817</c:v>
                </c:pt>
                <c:pt idx="2">
                  <c:v>0.51208077893977644</c:v>
                </c:pt>
                <c:pt idx="3">
                  <c:v>0.50017745179226314</c:v>
                </c:pt>
                <c:pt idx="4">
                  <c:v>0.50539827255278313</c:v>
                </c:pt>
                <c:pt idx="5">
                  <c:v>0.5018663455749548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0A-467B-BCBC-4FFC9DCB5B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735026847"/>
        <c:axId val="735034047"/>
      </c:barChart>
      <c:catAx>
        <c:axId val="73502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034047"/>
        <c:crosses val="autoZero"/>
        <c:auto val="1"/>
        <c:lblAlgn val="ctr"/>
        <c:lblOffset val="100"/>
        <c:noMultiLvlLbl val="0"/>
      </c:catAx>
      <c:valAx>
        <c:axId val="73503404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735026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>
          <a:solidFill>
            <a:schemeClr val="accent2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[HR_Attrition_Analysis(1).xlsx]Hourly_rate_ResearchSciet!PivotTable8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rgbClr val="00206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Hourly Rate of Male Research Scientists</a:t>
            </a:r>
          </a:p>
        </c:rich>
      </c:tx>
      <c:layout>
        <c:manualLayout>
          <c:xMode val="edge"/>
          <c:yMode val="edge"/>
          <c:x val="0.11701544593921276"/>
          <c:y val="3.85356454720616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rgbClr val="00206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Hourly_rate_ResearchSciet!$C$4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85000"/>
                    <a:satMod val="100000"/>
                    <a:lumMod val="100000"/>
                  </a:schemeClr>
                </a:gs>
                <a:gs pos="100000">
                  <a:schemeClr val="accent1">
                    <a:tint val="90000"/>
                    <a:shade val="100000"/>
                    <a:satMod val="150000"/>
                    <a:lumMod val="10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Hourly_rate_ResearchSciet!$B$5:$B$6</c:f>
              <c:strCache>
                <c:ptCount val="1"/>
                <c:pt idx="0">
                  <c:v>Research Scientist</c:v>
                </c:pt>
              </c:strCache>
            </c:strRef>
          </c:cat>
          <c:val>
            <c:numRef>
              <c:f>Hourly_rate_ResearchSciet!$C$5:$C$6</c:f>
              <c:numCache>
                <c:formatCode>0.00</c:formatCode>
                <c:ptCount val="1"/>
                <c:pt idx="0">
                  <c:v>114.44689069138664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02-4F21-9615-C5DC65FDD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1791481871"/>
        <c:axId val="1791480431"/>
      </c:barChart>
      <c:catAx>
        <c:axId val="1791481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1480431"/>
        <c:crosses val="autoZero"/>
        <c:auto val="1"/>
        <c:lblAlgn val="ctr"/>
        <c:lblOffset val="100"/>
        <c:noMultiLvlLbl val="0"/>
      </c:catAx>
      <c:valAx>
        <c:axId val="17914804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crossAx val="1791481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solidFill>
        <a:srgbClr val="C00000"/>
      </a:solidFill>
    </a:ln>
    <a:effectLst/>
  </c:spPr>
  <c:txPr>
    <a:bodyPr/>
    <a:lstStyle/>
    <a:p>
      <a:pPr>
        <a:defRPr>
          <a:solidFill>
            <a:srgbClr val="002060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[HR_Attrition_Analysis(1).xlsx]Attrition_Rate_By_Montly_Income!PivotTable9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Attrition</a:t>
            </a:r>
            <a:r>
              <a:rPr lang="en-US" baseline="0" dirty="0"/>
              <a:t> Rate by Monthly Income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22225" cap="rnd" cmpd="sng" algn="ctr">
            <a:solidFill>
              <a:srgbClr val="C00000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2225" cap="rnd" cmpd="sng" algn="ctr">
            <a:solidFill>
              <a:srgbClr val="C00000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2225" cap="rnd" cmpd="sng" algn="ctr">
            <a:solidFill>
              <a:srgbClr val="C00000"/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rgbClr val="C00000"/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609492563429571"/>
          <c:y val="0.17171296296296296"/>
          <c:w val="0.74218241469816271"/>
          <c:h val="0.63864428404782736"/>
        </c:manualLayout>
      </c:layout>
      <c:lineChart>
        <c:grouping val="standard"/>
        <c:varyColors val="0"/>
        <c:ser>
          <c:idx val="0"/>
          <c:order val="0"/>
          <c:tx>
            <c:strRef>
              <c:f>Attrition_Rate_By_Montly_Income!$C$4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rgbClr val="C00000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5"/>
            <c:spPr>
              <a:solidFill>
                <a:srgbClr val="C00000"/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Attrition_Rate_By_Montly_Income!$B$5:$B$11</c:f>
              <c:strCache>
                <c:ptCount val="6"/>
                <c:pt idx="0">
                  <c:v>1000 - 10000</c:v>
                </c:pt>
                <c:pt idx="1">
                  <c:v>10000 - 20000</c:v>
                </c:pt>
                <c:pt idx="2">
                  <c:v>20000 - 30000</c:v>
                </c:pt>
                <c:pt idx="3">
                  <c:v>30000 - 40000</c:v>
                </c:pt>
                <c:pt idx="4">
                  <c:v>40000 - 50000</c:v>
                </c:pt>
                <c:pt idx="5">
                  <c:v>50000 - 60000</c:v>
                </c:pt>
              </c:strCache>
            </c:strRef>
          </c:cat>
          <c:val>
            <c:numRef>
              <c:f>Attrition_Rate_By_Montly_Income!$C$5:$C$11</c:f>
              <c:numCache>
                <c:formatCode>0.00%</c:formatCode>
                <c:ptCount val="6"/>
                <c:pt idx="0">
                  <c:v>0.50255839822024473</c:v>
                </c:pt>
                <c:pt idx="1">
                  <c:v>0.49883615018722799</c:v>
                </c:pt>
                <c:pt idx="2">
                  <c:v>0.50158604282315622</c:v>
                </c:pt>
                <c:pt idx="3">
                  <c:v>0.49801901743264659</c:v>
                </c:pt>
                <c:pt idx="4">
                  <c:v>0.50853756528726402</c:v>
                </c:pt>
                <c:pt idx="5">
                  <c:v>0.51263902932254801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D7-48F0-A9A8-65BE4424F2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5376096"/>
        <c:axId val="165378976"/>
      </c:lineChart>
      <c:catAx>
        <c:axId val="16537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378976"/>
        <c:crosses val="autoZero"/>
        <c:auto val="1"/>
        <c:lblAlgn val="ctr"/>
        <c:lblOffset val="100"/>
        <c:noMultiLvlLbl val="0"/>
      </c:catAx>
      <c:valAx>
        <c:axId val="1653789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37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99440069991252"/>
          <c:y val="0.55663167104111988"/>
          <c:w val="0.13338932633420822"/>
          <c:h val="0.104745917177019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rgbClr val="C00000"/>
      </a:solidFill>
      <a:round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[HR_Attrition_Analysis(1).xlsx]Avg.Working_Years!PivotTable10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Average of Working Year by Department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accent1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lumMod val="50000"/>
              <a:alpha val="92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50000"/>
              <a:alpha val="92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50000"/>
              <a:alpha val="92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/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Avg.Working_Years!$C$5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50000"/>
                <a:alpha val="92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Avg.Working_Years!$B$6:$B$12</c:f>
              <c:strCache>
                <c:ptCount val="6"/>
                <c:pt idx="0">
                  <c:v>Hardware</c:v>
                </c:pt>
                <c:pt idx="1">
                  <c:v>Human Resources</c:v>
                </c:pt>
                <c:pt idx="2">
                  <c:v>Research &amp; Development</c:v>
                </c:pt>
                <c:pt idx="3">
                  <c:v>Sales</c:v>
                </c:pt>
                <c:pt idx="4">
                  <c:v>Software</c:v>
                </c:pt>
                <c:pt idx="5">
                  <c:v>Support</c:v>
                </c:pt>
              </c:strCache>
            </c:strRef>
          </c:cat>
          <c:val>
            <c:numRef>
              <c:f>Avg.Working_Years!$C$6:$C$12</c:f>
              <c:numCache>
                <c:formatCode>0.00</c:formatCode>
                <c:ptCount val="6"/>
                <c:pt idx="0">
                  <c:v>20.479373240298692</c:v>
                </c:pt>
                <c:pt idx="1">
                  <c:v>20.453670705630792</c:v>
                </c:pt>
                <c:pt idx="2">
                  <c:v>20.298473374203631</c:v>
                </c:pt>
                <c:pt idx="3">
                  <c:v>20.617768839465278</c:v>
                </c:pt>
                <c:pt idx="4">
                  <c:v>20.645273512476006</c:v>
                </c:pt>
                <c:pt idx="5">
                  <c:v>20.484527393136666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6D-411A-86BC-788FA7A084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735025887"/>
        <c:axId val="735041247"/>
      </c:barChart>
      <c:catAx>
        <c:axId val="7350258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041247"/>
        <c:crosses val="autoZero"/>
        <c:auto val="1"/>
        <c:lblAlgn val="ctr"/>
        <c:lblOffset val="100"/>
        <c:noMultiLvlLbl val="0"/>
      </c:catAx>
      <c:valAx>
        <c:axId val="735041247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73502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solidFill>
        <a:schemeClr val="accent1">
          <a:lumMod val="60000"/>
          <a:lumOff val="40000"/>
        </a:schemeClr>
      </a:solidFill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[HR_Attrition_Analysis(1).xlsx]Sheet10!PivotTable17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C3392B"/>
                </a:solidFill>
              </a:rPr>
              <a:t>Attrition</a:t>
            </a:r>
            <a:r>
              <a:rPr lang="en-US" baseline="0">
                <a:solidFill>
                  <a:srgbClr val="C3392B"/>
                </a:solidFill>
              </a:rPr>
              <a:t> Rate by Education Fie</a:t>
            </a:r>
            <a:r>
              <a:rPr lang="en-US">
                <a:solidFill>
                  <a:srgbClr val="C3392B"/>
                </a:solidFill>
              </a:rPr>
              <a:t>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accent1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50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Sheet10!$C$3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Sheet10!$B$4:$B$10</c:f>
              <c:strCache>
                <c:ptCount val="6"/>
                <c:pt idx="0">
                  <c:v>Human Resources</c:v>
                </c:pt>
                <c:pt idx="1">
                  <c:v>Life Sciences</c:v>
                </c:pt>
                <c:pt idx="2">
                  <c:v>Marketing</c:v>
                </c:pt>
                <c:pt idx="3">
                  <c:v>Medical</c:v>
                </c:pt>
                <c:pt idx="4">
                  <c:v>Other</c:v>
                </c:pt>
                <c:pt idx="5">
                  <c:v>Technical Degree</c:v>
                </c:pt>
              </c:strCache>
            </c:strRef>
          </c:cat>
          <c:val>
            <c:numRef>
              <c:f>Sheet10!$C$4:$C$10</c:f>
              <c:numCache>
                <c:formatCode>0.00%</c:formatCode>
                <c:ptCount val="6"/>
                <c:pt idx="0">
                  <c:v>0.50277710697899058</c:v>
                </c:pt>
                <c:pt idx="1">
                  <c:v>0.49406403645521046</c:v>
                </c:pt>
                <c:pt idx="2">
                  <c:v>0.50067097718677567</c:v>
                </c:pt>
                <c:pt idx="3">
                  <c:v>0.50807482281863603</c:v>
                </c:pt>
                <c:pt idx="4">
                  <c:v>0.50616102404593855</c:v>
                </c:pt>
                <c:pt idx="5">
                  <c:v>0.50060856864654335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87-4692-997A-28326E8049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382108271"/>
        <c:axId val="1382104911"/>
      </c:barChart>
      <c:catAx>
        <c:axId val="1382108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104911"/>
        <c:crosses val="autoZero"/>
        <c:auto val="1"/>
        <c:lblAlgn val="ctr"/>
        <c:lblOffset val="100"/>
        <c:noMultiLvlLbl val="0"/>
      </c:catAx>
      <c:valAx>
        <c:axId val="138210491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382108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[HR_Attrition_Analysis(1).xlsx]work-life_balance!PivotTable11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Work-Life Balance</a:t>
            </a:r>
            <a:r>
              <a:rPr lang="en-US" baseline="0"/>
              <a:t> by Job Role</a:t>
            </a:r>
          </a:p>
        </c:rich>
      </c:tx>
      <c:layout>
        <c:manualLayout>
          <c:xMode val="edge"/>
          <c:yMode val="edge"/>
          <c:x val="0.1870833333333333"/>
          <c:y val="1.74978127734033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accent1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1693140958536248E-2"/>
          <c:y val="0.1542107757363663"/>
          <c:w val="0.90368900419239506"/>
          <c:h val="0.328707349081364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'work-life_balance'!$C$3:$C$4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85000"/>
                    <a:satMod val="100000"/>
                    <a:lumMod val="100000"/>
                  </a:schemeClr>
                </a:gs>
                <a:gs pos="100000">
                  <a:schemeClr val="accent1">
                    <a:tint val="90000"/>
                    <a:shade val="100000"/>
                    <a:satMod val="150000"/>
                    <a:lumMod val="10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'work-life_balance'!$B$5:$B$14</c:f>
              <c:strCache>
                <c:ptCount val="10"/>
                <c:pt idx="0">
                  <c:v>Developer</c:v>
                </c:pt>
                <c:pt idx="1">
                  <c:v>Healthcare Representative</c:v>
                </c:pt>
                <c:pt idx="2">
                  <c:v>Human Resources</c:v>
                </c:pt>
                <c:pt idx="3">
                  <c:v>Laboratory Technician</c:v>
                </c:pt>
                <c:pt idx="4">
                  <c:v>Manager</c:v>
                </c:pt>
                <c:pt idx="5">
                  <c:v>Manufacturing Director</c:v>
                </c:pt>
                <c:pt idx="6">
                  <c:v>Research Director</c:v>
                </c:pt>
                <c:pt idx="7">
                  <c:v>Research Scientist</c:v>
                </c:pt>
                <c:pt idx="8">
                  <c:v>Sales Executive</c:v>
                </c:pt>
                <c:pt idx="9">
                  <c:v>Sales Representative</c:v>
                </c:pt>
              </c:strCache>
            </c:strRef>
          </c:cat>
          <c:val>
            <c:numRef>
              <c:f>'work-life_balance'!$C$5:$C$14</c:f>
              <c:numCache>
                <c:formatCode>General</c:formatCode>
                <c:ptCount val="10"/>
                <c:pt idx="0">
                  <c:v>1215</c:v>
                </c:pt>
                <c:pt idx="1">
                  <c:v>1233</c:v>
                </c:pt>
                <c:pt idx="2">
                  <c:v>1232</c:v>
                </c:pt>
                <c:pt idx="3">
                  <c:v>1245</c:v>
                </c:pt>
                <c:pt idx="4">
                  <c:v>1242</c:v>
                </c:pt>
                <c:pt idx="5">
                  <c:v>1185</c:v>
                </c:pt>
                <c:pt idx="6">
                  <c:v>1272</c:v>
                </c:pt>
                <c:pt idx="7">
                  <c:v>1222</c:v>
                </c:pt>
                <c:pt idx="8">
                  <c:v>1286</c:v>
                </c:pt>
                <c:pt idx="9">
                  <c:v>1255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A2-4C57-81C2-BBEB49039228}"/>
            </c:ext>
          </c:extLst>
        </c:ser>
        <c:ser>
          <c:idx val="1"/>
          <c:order val="1"/>
          <c:tx>
            <c:strRef>
              <c:f>'work-life_balance'!$D$3:$D$4</c:f>
              <c:strCache>
                <c:ptCount val="1"/>
                <c:pt idx="0">
                  <c:v>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85000"/>
                    <a:satMod val="100000"/>
                    <a:lumMod val="100000"/>
                  </a:schemeClr>
                </a:gs>
                <a:gs pos="100000">
                  <a:schemeClr val="accent2">
                    <a:tint val="90000"/>
                    <a:shade val="100000"/>
                    <a:satMod val="150000"/>
                    <a:lumMod val="10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'work-life_balance'!$B$5:$B$14</c:f>
              <c:strCache>
                <c:ptCount val="10"/>
                <c:pt idx="0">
                  <c:v>Developer</c:v>
                </c:pt>
                <c:pt idx="1">
                  <c:v>Healthcare Representative</c:v>
                </c:pt>
                <c:pt idx="2">
                  <c:v>Human Resources</c:v>
                </c:pt>
                <c:pt idx="3">
                  <c:v>Laboratory Technician</c:v>
                </c:pt>
                <c:pt idx="4">
                  <c:v>Manager</c:v>
                </c:pt>
                <c:pt idx="5">
                  <c:v>Manufacturing Director</c:v>
                </c:pt>
                <c:pt idx="6">
                  <c:v>Research Director</c:v>
                </c:pt>
                <c:pt idx="7">
                  <c:v>Research Scientist</c:v>
                </c:pt>
                <c:pt idx="8">
                  <c:v>Sales Executive</c:v>
                </c:pt>
                <c:pt idx="9">
                  <c:v>Sales Representative</c:v>
                </c:pt>
              </c:strCache>
            </c:strRef>
          </c:cat>
          <c:val>
            <c:numRef>
              <c:f>'work-life_balance'!$D$5:$D$14</c:f>
              <c:numCache>
                <c:formatCode>General</c:formatCode>
                <c:ptCount val="10"/>
                <c:pt idx="0">
                  <c:v>1225</c:v>
                </c:pt>
                <c:pt idx="1">
                  <c:v>1272</c:v>
                </c:pt>
                <c:pt idx="2">
                  <c:v>1222</c:v>
                </c:pt>
                <c:pt idx="3">
                  <c:v>1229</c:v>
                </c:pt>
                <c:pt idx="4">
                  <c:v>1282</c:v>
                </c:pt>
                <c:pt idx="5">
                  <c:v>1347</c:v>
                </c:pt>
                <c:pt idx="6">
                  <c:v>1256</c:v>
                </c:pt>
                <c:pt idx="7">
                  <c:v>1257</c:v>
                </c:pt>
                <c:pt idx="8">
                  <c:v>1330</c:v>
                </c:pt>
                <c:pt idx="9">
                  <c:v>1264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A2-4C57-81C2-BBEB49039228}"/>
            </c:ext>
          </c:extLst>
        </c:ser>
        <c:ser>
          <c:idx val="2"/>
          <c:order val="2"/>
          <c:tx>
            <c:strRef>
              <c:f>'work-life_balance'!$E$3:$E$4</c:f>
              <c:strCache>
                <c:ptCount val="1"/>
                <c:pt idx="0">
                  <c:v>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85000"/>
                    <a:satMod val="100000"/>
                    <a:lumMod val="100000"/>
                  </a:schemeClr>
                </a:gs>
                <a:gs pos="100000">
                  <a:schemeClr val="accent3">
                    <a:tint val="90000"/>
                    <a:shade val="100000"/>
                    <a:satMod val="150000"/>
                    <a:lumMod val="10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'work-life_balance'!$B$5:$B$14</c:f>
              <c:strCache>
                <c:ptCount val="10"/>
                <c:pt idx="0">
                  <c:v>Developer</c:v>
                </c:pt>
                <c:pt idx="1">
                  <c:v>Healthcare Representative</c:v>
                </c:pt>
                <c:pt idx="2">
                  <c:v>Human Resources</c:v>
                </c:pt>
                <c:pt idx="3">
                  <c:v>Laboratory Technician</c:v>
                </c:pt>
                <c:pt idx="4">
                  <c:v>Manager</c:v>
                </c:pt>
                <c:pt idx="5">
                  <c:v>Manufacturing Director</c:v>
                </c:pt>
                <c:pt idx="6">
                  <c:v>Research Director</c:v>
                </c:pt>
                <c:pt idx="7">
                  <c:v>Research Scientist</c:v>
                </c:pt>
                <c:pt idx="8">
                  <c:v>Sales Executive</c:v>
                </c:pt>
                <c:pt idx="9">
                  <c:v>Sales Representative</c:v>
                </c:pt>
              </c:strCache>
            </c:strRef>
          </c:cat>
          <c:val>
            <c:numRef>
              <c:f>'work-life_balance'!$E$5:$E$14</c:f>
              <c:numCache>
                <c:formatCode>General</c:formatCode>
                <c:ptCount val="10"/>
                <c:pt idx="0">
                  <c:v>1326</c:v>
                </c:pt>
                <c:pt idx="1">
                  <c:v>1291</c:v>
                </c:pt>
                <c:pt idx="2">
                  <c:v>1226</c:v>
                </c:pt>
                <c:pt idx="3">
                  <c:v>1222</c:v>
                </c:pt>
                <c:pt idx="4">
                  <c:v>1281</c:v>
                </c:pt>
                <c:pt idx="5">
                  <c:v>1204</c:v>
                </c:pt>
                <c:pt idx="6">
                  <c:v>1239</c:v>
                </c:pt>
                <c:pt idx="7">
                  <c:v>1286</c:v>
                </c:pt>
                <c:pt idx="8">
                  <c:v>1219</c:v>
                </c:pt>
                <c:pt idx="9">
                  <c:v>1241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A2-4C57-81C2-BBEB49039228}"/>
            </c:ext>
          </c:extLst>
        </c:ser>
        <c:ser>
          <c:idx val="3"/>
          <c:order val="3"/>
          <c:tx>
            <c:strRef>
              <c:f>'work-life_balance'!$F$3:$F$4</c:f>
              <c:strCache>
                <c:ptCount val="1"/>
                <c:pt idx="0">
                  <c:v>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85000"/>
                    <a:satMod val="100000"/>
                    <a:lumMod val="100000"/>
                  </a:schemeClr>
                </a:gs>
                <a:gs pos="100000">
                  <a:schemeClr val="accent4">
                    <a:tint val="90000"/>
                    <a:shade val="100000"/>
                    <a:satMod val="150000"/>
                    <a:lumMod val="10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cat>
            <c:strRef>
              <c:f>'work-life_balance'!$B$5:$B$14</c:f>
              <c:strCache>
                <c:ptCount val="10"/>
                <c:pt idx="0">
                  <c:v>Developer</c:v>
                </c:pt>
                <c:pt idx="1">
                  <c:v>Healthcare Representative</c:v>
                </c:pt>
                <c:pt idx="2">
                  <c:v>Human Resources</c:v>
                </c:pt>
                <c:pt idx="3">
                  <c:v>Laboratory Technician</c:v>
                </c:pt>
                <c:pt idx="4">
                  <c:v>Manager</c:v>
                </c:pt>
                <c:pt idx="5">
                  <c:v>Manufacturing Director</c:v>
                </c:pt>
                <c:pt idx="6">
                  <c:v>Research Director</c:v>
                </c:pt>
                <c:pt idx="7">
                  <c:v>Research Scientist</c:v>
                </c:pt>
                <c:pt idx="8">
                  <c:v>Sales Executive</c:v>
                </c:pt>
                <c:pt idx="9">
                  <c:v>Sales Representative</c:v>
                </c:pt>
              </c:strCache>
            </c:strRef>
          </c:cat>
          <c:val>
            <c:numRef>
              <c:f>'work-life_balance'!$F$5:$F$14</c:f>
              <c:numCache>
                <c:formatCode>General</c:formatCode>
                <c:ptCount val="10"/>
                <c:pt idx="0">
                  <c:v>1219</c:v>
                </c:pt>
                <c:pt idx="1">
                  <c:v>1249</c:v>
                </c:pt>
                <c:pt idx="2">
                  <c:v>1248</c:v>
                </c:pt>
                <c:pt idx="3">
                  <c:v>1216</c:v>
                </c:pt>
                <c:pt idx="4">
                  <c:v>1231</c:v>
                </c:pt>
                <c:pt idx="5">
                  <c:v>1238</c:v>
                </c:pt>
                <c:pt idx="6">
                  <c:v>1257</c:v>
                </c:pt>
                <c:pt idx="7">
                  <c:v>1259</c:v>
                </c:pt>
                <c:pt idx="8">
                  <c:v>1218</c:v>
                </c:pt>
                <c:pt idx="9">
                  <c:v>1259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A2-4C57-81C2-BBEB49039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5039807"/>
        <c:axId val="735036927"/>
      </c:barChart>
      <c:catAx>
        <c:axId val="735039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036927"/>
        <c:crosses val="autoZero"/>
        <c:auto val="1"/>
        <c:lblAlgn val="ctr"/>
        <c:lblOffset val="100"/>
        <c:noMultiLvlLbl val="0"/>
      </c:catAx>
      <c:valAx>
        <c:axId val="73503692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73503980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[HR_Attrition_Analysis(1).xlsx]Attrition_By_YSLP!PivotTable13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Attrition</a:t>
            </a:r>
            <a:r>
              <a:rPr lang="en-US" baseline="0"/>
              <a:t> Rate by Year Since Promotion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25400" cap="rnd" cmpd="sng" algn="ctr">
            <a:solidFill>
              <a:schemeClr val="accent1">
                <a:shade val="15000"/>
              </a:schemeClr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25400" cap="rnd" cmpd="sng" algn="ctr">
            <a:solidFill>
              <a:schemeClr val="accent1">
                <a:shade val="15000"/>
              </a:schemeClr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25400" cap="rnd" cmpd="sng" algn="ctr">
            <a:solidFill>
              <a:schemeClr val="accent1">
                <a:shade val="15000"/>
              </a:schemeClr>
            </a:solidFill>
            <a:miter lim="800000"/>
          </a:ln>
          <a:effectLst>
            <a:glow rad="139700">
              <a:schemeClr val="accent1">
                <a:satMod val="175000"/>
                <a:alpha val="14000"/>
              </a:schemeClr>
            </a:glow>
          </a:effectLst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>
              <a:noFill/>
            </a:ln>
            <a:effectLst>
              <a:glow rad="63500">
                <a:schemeClr val="accent1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Attrition_By_YSLP!$C$4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accent1">
                  <a:shade val="15000"/>
                </a:schemeClr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cat>
            <c:strRef>
              <c:f>Attrition_By_YSLP!$B$5:$B$45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Attrition_By_YSLP!$C$5:$C$45</c:f>
              <c:numCache>
                <c:formatCode>0.00%</c:formatCode>
                <c:ptCount val="40"/>
                <c:pt idx="0">
                  <c:v>0.50136809914694991</c:v>
                </c:pt>
                <c:pt idx="1">
                  <c:v>0.50070126227208978</c:v>
                </c:pt>
                <c:pt idx="2">
                  <c:v>0.49960270162892334</c:v>
                </c:pt>
                <c:pt idx="3">
                  <c:v>0.51283380865957995</c:v>
                </c:pt>
                <c:pt idx="4">
                  <c:v>0.50548761367199746</c:v>
                </c:pt>
                <c:pt idx="5">
                  <c:v>0.51339969372128635</c:v>
                </c:pt>
                <c:pt idx="6">
                  <c:v>0.50761648745519716</c:v>
                </c:pt>
                <c:pt idx="7">
                  <c:v>0.49109552077711821</c:v>
                </c:pt>
                <c:pt idx="8">
                  <c:v>0.49419354838709678</c:v>
                </c:pt>
                <c:pt idx="9">
                  <c:v>0.48857774502579221</c:v>
                </c:pt>
                <c:pt idx="10">
                  <c:v>0.49349522983521249</c:v>
                </c:pt>
                <c:pt idx="11">
                  <c:v>0.48121827411167512</c:v>
                </c:pt>
                <c:pt idx="12">
                  <c:v>0.49946638207043759</c:v>
                </c:pt>
                <c:pt idx="13">
                  <c:v>0.51833122629582806</c:v>
                </c:pt>
                <c:pt idx="14">
                  <c:v>0.49513212795549372</c:v>
                </c:pt>
                <c:pt idx="15">
                  <c:v>0.49739130434782608</c:v>
                </c:pt>
                <c:pt idx="16">
                  <c:v>0.48113207547169812</c:v>
                </c:pt>
                <c:pt idx="17">
                  <c:v>0.5067567567567568</c:v>
                </c:pt>
                <c:pt idx="18">
                  <c:v>0.52839506172839501</c:v>
                </c:pt>
                <c:pt idx="19">
                  <c:v>0.50442477876106195</c:v>
                </c:pt>
                <c:pt idx="20">
                  <c:v>0.47241379310344828</c:v>
                </c:pt>
                <c:pt idx="21">
                  <c:v>0.53159851301115246</c:v>
                </c:pt>
                <c:pt idx="22">
                  <c:v>0.56277056277056281</c:v>
                </c:pt>
                <c:pt idx="23">
                  <c:v>0.49726775956284153</c:v>
                </c:pt>
                <c:pt idx="24">
                  <c:v>0.49696969696969695</c:v>
                </c:pt>
                <c:pt idx="25">
                  <c:v>0.51020408163265307</c:v>
                </c:pt>
                <c:pt idx="26">
                  <c:v>0.47933884297520662</c:v>
                </c:pt>
                <c:pt idx="27">
                  <c:v>0.5</c:v>
                </c:pt>
                <c:pt idx="28">
                  <c:v>0.47252747252747251</c:v>
                </c:pt>
                <c:pt idx="29">
                  <c:v>0.58730158730158732</c:v>
                </c:pt>
                <c:pt idx="30">
                  <c:v>0.49152542372881358</c:v>
                </c:pt>
                <c:pt idx="31">
                  <c:v>0.56140350877192979</c:v>
                </c:pt>
                <c:pt idx="32">
                  <c:v>0.60526315789473684</c:v>
                </c:pt>
                <c:pt idx="33">
                  <c:v>0.32</c:v>
                </c:pt>
                <c:pt idx="34">
                  <c:v>0.33333333333333331</c:v>
                </c:pt>
                <c:pt idx="35">
                  <c:v>0.55555555555555558</c:v>
                </c:pt>
                <c:pt idx="36">
                  <c:v>0.77777777777777779</c:v>
                </c:pt>
                <c:pt idx="37">
                  <c:v>0.5</c:v>
                </c:pt>
                <c:pt idx="38">
                  <c:v>0.5</c:v>
                </c:pt>
                <c:pt idx="3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67-496C-A420-964C0A54F1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8643551"/>
        <c:axId val="1788644511"/>
      </c:lineChart>
      <c:catAx>
        <c:axId val="1788643551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8644511"/>
        <c:crosses val="autoZero"/>
        <c:auto val="1"/>
        <c:lblAlgn val="ctr"/>
        <c:lblOffset val="100"/>
        <c:noMultiLvlLbl val="0"/>
      </c:catAx>
      <c:valAx>
        <c:axId val="178864451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8643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accent1">
          <a:shade val="15000"/>
          <a:alpha val="70000"/>
        </a:schemeClr>
      </a:solidFill>
      <a:round/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[HR_Attrition_Analysis(1).xlsx]Sheet9!PivotTable16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Attrition Rate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accent1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EF4603">
              <a:alpha val="98824"/>
            </a:srgb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EF4603">
              <a:alpha val="98824"/>
            </a:srgb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EF4603">
              <a:alpha val="98824"/>
            </a:srgb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Sheet9!$D$3:$D$4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F4603">
                <a:alpha val="98824"/>
              </a:srgbClr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Sheet9!$C$5:$C$8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46-60</c:v>
                </c:pt>
              </c:strCache>
            </c:strRef>
          </c:cat>
          <c:val>
            <c:numRef>
              <c:f>Sheet9!$D$5:$D$8</c:f>
              <c:numCache>
                <c:formatCode>0.00%</c:formatCode>
                <c:ptCount val="4"/>
                <c:pt idx="0">
                  <c:v>0.49691817215727951</c:v>
                </c:pt>
                <c:pt idx="1">
                  <c:v>0.51044042814528867</c:v>
                </c:pt>
                <c:pt idx="2">
                  <c:v>0.49734543586230517</c:v>
                </c:pt>
                <c:pt idx="3">
                  <c:v>0.50689813750287427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6-402B-9756-5F4179ECFC10}"/>
            </c:ext>
          </c:extLst>
        </c:ser>
        <c:ser>
          <c:idx val="1"/>
          <c:order val="1"/>
          <c:tx>
            <c:strRef>
              <c:f>Sheet9!$E$3:$E$4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Sheet9!$C$5:$C$8</c:f>
              <c:strCache>
                <c:ptCount val="4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46-60</c:v>
                </c:pt>
              </c:strCache>
            </c:strRef>
          </c:cat>
          <c:val>
            <c:numRef>
              <c:f>Sheet9!$E$5:$E$8</c:f>
              <c:numCache>
                <c:formatCode>0.00%</c:formatCode>
                <c:ptCount val="4"/>
                <c:pt idx="0">
                  <c:v>0.51079593564775616</c:v>
                </c:pt>
                <c:pt idx="1">
                  <c:v>0.49776247848537003</c:v>
                </c:pt>
                <c:pt idx="2">
                  <c:v>0.48941662364481159</c:v>
                </c:pt>
                <c:pt idx="3">
                  <c:v>0.50447555657562548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26-402B-9756-5F4179ECFC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735037407"/>
        <c:axId val="735045087"/>
      </c:barChart>
      <c:catAx>
        <c:axId val="735037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5045087"/>
        <c:crosses val="autoZero"/>
        <c:auto val="1"/>
        <c:lblAlgn val="ctr"/>
        <c:lblOffset val="100"/>
        <c:noMultiLvlLbl val="0"/>
      </c:catAx>
      <c:valAx>
        <c:axId val="73504508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735037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  <a:alpha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solidFill>
        <a:schemeClr val="accent1">
          <a:shade val="15000"/>
          <a:alpha val="80000"/>
        </a:schemeClr>
      </a:solidFill>
    </a:ln>
    <a:effectLst/>
  </c:spPr>
  <c:txPr>
    <a:bodyPr/>
    <a:lstStyle/>
    <a:p>
      <a:pPr>
        <a:defRPr>
          <a:solidFill>
            <a:schemeClr val="accent1">
              <a:lumMod val="50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[HR_Attrition_Analysis(1).xlsx]Job_satisfaction!PivotTable14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ln>
                  <a:noFill/>
                </a:ln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>
                <a:ln>
                  <a:noFill/>
                </a:ln>
                <a:solidFill>
                  <a:srgbClr val="C00000"/>
                </a:solidFill>
              </a:rPr>
              <a:t>Attrition</a:t>
            </a:r>
            <a:r>
              <a:rPr lang="en-US" baseline="0">
                <a:ln>
                  <a:noFill/>
                </a:ln>
                <a:solidFill>
                  <a:srgbClr val="C00000"/>
                </a:solidFill>
              </a:rPr>
              <a:t> Rate by Job Satisfaction</a:t>
            </a:r>
            <a:endParaRPr lang="en-US">
              <a:ln>
                <a:noFill/>
              </a:ln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ln>
                <a:noFill/>
              </a:ln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E74C3C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39C12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3498DB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3CB371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E74C3C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39C12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3498DB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3CB371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E74C3C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39C12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3498DB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3CB371"/>
          </a:solidFill>
          <a:ln>
            <a:noFill/>
          </a:ln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rgbClr r="0" g="0" b="0">
                <a:shade val="35000"/>
                <a:satMod val="16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Job_satisfaction!$C$4:$C$5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Job_satisfaction!$B$6:$B$8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Job_satisfaction!$C$6:$C$8</c:f>
              <c:numCache>
                <c:formatCode>0.00%</c:formatCode>
                <c:ptCount val="2"/>
                <c:pt idx="0">
                  <c:v>0.50745321915635899</c:v>
                </c:pt>
                <c:pt idx="1">
                  <c:v>0.49331445650464056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CD-46E6-AFCA-F964B86EDC80}"/>
            </c:ext>
          </c:extLst>
        </c:ser>
        <c:ser>
          <c:idx val="1"/>
          <c:order val="1"/>
          <c:tx>
            <c:strRef>
              <c:f>Job_satisfaction!$D$4:$D$5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F39C12"/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Job_satisfaction!$B$6:$B$8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Job_satisfaction!$D$6:$D$8</c:f>
              <c:numCache>
                <c:formatCode>0.00%</c:formatCode>
                <c:ptCount val="2"/>
                <c:pt idx="0">
                  <c:v>0.50532506755682727</c:v>
                </c:pt>
                <c:pt idx="1">
                  <c:v>0.49808245445829341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CD-46E6-AFCA-F964B86EDC80}"/>
            </c:ext>
          </c:extLst>
        </c:ser>
        <c:ser>
          <c:idx val="2"/>
          <c:order val="2"/>
          <c:tx>
            <c:strRef>
              <c:f>Job_satisfaction!$E$4:$E$5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3498DB"/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Job_satisfaction!$B$6:$B$8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Job_satisfaction!$E$6:$E$8</c:f>
              <c:numCache>
                <c:formatCode>0.00%</c:formatCode>
                <c:ptCount val="2"/>
                <c:pt idx="0">
                  <c:v>0.50403355921264925</c:v>
                </c:pt>
                <c:pt idx="1">
                  <c:v>0.50551528521903566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CD-46E6-AFCA-F964B86EDC80}"/>
            </c:ext>
          </c:extLst>
        </c:ser>
        <c:ser>
          <c:idx val="3"/>
          <c:order val="3"/>
          <c:tx>
            <c:strRef>
              <c:f>Job_satisfaction!$F$4:$F$5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3CB371"/>
            </a:solidFill>
            <a:ln>
              <a:noFill/>
            </a:ln>
            <a:effectLst>
              <a:outerShdw blurRad="76200" dist="25400" dir="5400000" algn="ctr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flat" dir="t">
                <a:rot lat="0" lon="0" rev="3600000"/>
              </a:lightRig>
            </a:scene3d>
            <a:sp3d contourW="12700" prstMaterial="flat">
              <a:bevelT w="38100" h="44450" prst="angle"/>
              <a:contourClr>
                <a:scrgbClr r="0" g="0" b="0">
                  <a:shade val="35000"/>
                  <a:satMod val="16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Job_satisfaction!$B$6:$B$8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Job_satisfaction!$F$6:$F$8</c:f>
              <c:numCache>
                <c:formatCode>0.00%</c:formatCode>
                <c:ptCount val="2"/>
                <c:pt idx="0">
                  <c:v>0.49739668076797916</c:v>
                </c:pt>
                <c:pt idx="1">
                  <c:v>0.50573958674975406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CD-46E6-AFCA-F964B86EDC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695408127"/>
        <c:axId val="1695407167"/>
      </c:barChart>
      <c:catAx>
        <c:axId val="1695408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accent1"/>
                  </a:solidFill>
                </a:ln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5407167"/>
        <c:crosses val="autoZero"/>
        <c:auto val="1"/>
        <c:lblAlgn val="ctr"/>
        <c:lblOffset val="100"/>
        <c:noMultiLvlLbl val="0"/>
      </c:catAx>
      <c:valAx>
        <c:axId val="1695407167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695408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accent1"/>
                </a:solidFill>
              </a:ln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  <a:tileRect/>
    </a:gradFill>
    <a:ln>
      <a:noFill/>
    </a:ln>
    <a:effectLst/>
  </c:spPr>
  <c:txPr>
    <a:bodyPr/>
    <a:lstStyle/>
    <a:p>
      <a:pPr>
        <a:defRPr>
          <a:ln>
            <a:solidFill>
              <a:schemeClr val="accent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DC7DD-F7FD-3379-B2E6-6ABB6FCD1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9BC16-8F42-BBA3-E1EF-BC149FD46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B1FC4-F783-8797-B204-36F0A14D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174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0AC1-F3C6-1896-9CF4-F9EE0F4B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0B49B-01D6-F614-E16B-4F6B48080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3915C-CBF0-9943-6B8D-7EDDD1F9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7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A55A8-5D9B-FC30-3860-69F3A2C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8160A-37CF-FE8E-EF5B-BF377AB87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CB31F-5C52-190C-A4FB-D50B0A479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159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AF27-70E7-17AD-62F6-28187FB07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DE710-E63F-BA34-55C7-09D706660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F22D5-0175-85C7-110D-2F7972B6C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741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8AAE-2256-41A8-5298-9EEB39DD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3E9D6-DF11-C440-CC5D-9425EC8E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8445F-C4C0-2168-6662-37E6B4CAD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755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7646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7554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222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1618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9288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4825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2CF2-6C32-4B53-8C63-7B81B4C356E6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06BFC8-476E-5FF2-FFB8-D7B77DA3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B501989-5103-418B-DE06-D5DCBB0AF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68700FC-DEF2-1723-1A23-5CD5BB8D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3B2489-5AC5-9FA7-A297-EBDC5CED0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24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5262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13820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646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353717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91314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840819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479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2763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23065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65513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41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74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B91A37-BC7D-8286-E92B-88D646BE1857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74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  <p:sldLayoutId id="2147484105" r:id="rId17"/>
    <p:sldLayoutId id="2147484106" r:id="rId18"/>
    <p:sldLayoutId id="2147484107" r:id="rId19"/>
    <p:sldLayoutId id="2147483673" r:id="rId20"/>
    <p:sldLayoutId id="2147483678" r:id="rId21"/>
    <p:sldLayoutId id="2147483664" r:id="rId22"/>
    <p:sldLayoutId id="2147483680" r:id="rId23"/>
    <p:sldLayoutId id="2147483681" r:id="rId24"/>
    <p:sldLayoutId id="2147483666" r:id="rId25"/>
    <p:sldLayoutId id="2147483654" r:id="rId2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099" y="1562381"/>
            <a:ext cx="10360152" cy="8382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Analytics Project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3CBFE7-31D5-9DAE-E993-93C13CF449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66398" y="1832166"/>
            <a:ext cx="3710664" cy="1136830"/>
          </a:xfrm>
        </p:spPr>
        <p:txBody>
          <a:bodyPr>
            <a:noAutofit/>
          </a:bodyPr>
          <a:lstStyle/>
          <a:p>
            <a:endParaRPr lang="en-US" sz="3000" u="sn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487C3-2511-E0D1-E274-FD22E713DC49}"/>
              </a:ext>
            </a:extLst>
          </p:cNvPr>
          <p:cNvSpPr txBox="1"/>
          <p:nvPr/>
        </p:nvSpPr>
        <p:spPr>
          <a:xfrm>
            <a:off x="8387674" y="3923437"/>
            <a:ext cx="2906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Ravi Prakash Maurya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Pallamala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Karthik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Katam Sai Ram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Proddutoor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Thousif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Gutha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Prasanna Kishore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Vovia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Jagadeesan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Ediga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Gopala Krishna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B8E94-3D97-91DC-4797-47BF6AC69ACF}"/>
              </a:ext>
            </a:extLst>
          </p:cNvPr>
          <p:cNvSpPr txBox="1"/>
          <p:nvPr/>
        </p:nvSpPr>
        <p:spPr>
          <a:xfrm>
            <a:off x="8387674" y="3322156"/>
            <a:ext cx="2050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6B23-6768-E0AC-C9CC-A16BDDA3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75" y="116044"/>
            <a:ext cx="10360152" cy="54261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b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869CE9-975F-13BB-5492-74149B8B782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629700" y="1948627"/>
            <a:ext cx="906658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Performance Indicators (KPIs) and Observations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Challenges 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22CC4-CF3A-F8D7-4920-4FEA077A3216}"/>
              </a:ext>
            </a:extLst>
          </p:cNvPr>
          <p:cNvSpPr txBox="1"/>
          <p:nvPr/>
        </p:nvSpPr>
        <p:spPr>
          <a:xfrm>
            <a:off x="4745335" y="18017"/>
            <a:ext cx="60943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91252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7945-CBDA-F802-7D4D-9C04C6E4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51246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CE5BCA-9EA0-C689-02A6-29BFCCE77C5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507554" y="1997839"/>
            <a:ext cx="100885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HR Analytics uses data-driven methods to understand and improve workforce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helps organizations make informed decisions about hiring, retention, and employee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focuses on analyzing factors such as attrition rate, job satisfaction, income, and work-life 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like Excel, Tableau, Power BI, and SQL are used for data analysis and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aim is to identify patterns and insights that can reduce employee turnover and enhance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applying HR Analytics, companies can create a strategic, efficient, and employee-friendly work environment.</a:t>
            </a:r>
          </a:p>
        </p:txBody>
      </p:sp>
    </p:spTree>
    <p:extLst>
      <p:ext uri="{BB962C8B-B14F-4D97-AF65-F5344CB8AC3E}">
        <p14:creationId xmlns:p14="http://schemas.microsoft.com/office/powerpoint/2010/main" val="246362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94172D-F0D6-9393-3ADF-AA58EAC6C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013" y="71769"/>
            <a:ext cx="7947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 And Observations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106D-A79E-3C31-56AF-E25D0C63C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D8E2DC8-815B-107C-8E0D-435CCA81B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1852857"/>
              </p:ext>
            </p:extLst>
          </p:nvPr>
        </p:nvGraphicFramePr>
        <p:xfrm>
          <a:off x="3275201" y="1284052"/>
          <a:ext cx="6180084" cy="2889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E559CE-9676-EF58-50B0-6D00A768E205}"/>
              </a:ext>
            </a:extLst>
          </p:cNvPr>
          <p:cNvSpPr txBox="1"/>
          <p:nvPr/>
        </p:nvSpPr>
        <p:spPr>
          <a:xfrm>
            <a:off x="1140274" y="4474074"/>
            <a:ext cx="104499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Attrition Rate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Research &amp; Development department shows the highest attrition rate at 51.21%, indicating potential job dissatisfaction or high stress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and Support departments also have slightly high attrition rates (around 50–51%).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Hardware has the lowest</a:t>
            </a:r>
            <a:r>
              <a:rPr lang="en-US" b="1" dirty="0"/>
              <a:t> </a:t>
            </a:r>
            <a:r>
              <a:rPr lang="en-US" dirty="0"/>
              <a:t>attrition (49.44%), suggesting relatively better employee retention.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attrition rates are quite close across departments, averaging around 50%.</a:t>
            </a:r>
          </a:p>
        </p:txBody>
      </p:sp>
    </p:spTree>
    <p:extLst>
      <p:ext uri="{BB962C8B-B14F-4D97-AF65-F5344CB8AC3E}">
        <p14:creationId xmlns:p14="http://schemas.microsoft.com/office/powerpoint/2010/main" val="298637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1F320-63BF-5D1D-3214-8F337D706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969DF8C-8150-324A-CB55-252AD1C39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744905"/>
              </p:ext>
            </p:extLst>
          </p:nvPr>
        </p:nvGraphicFramePr>
        <p:xfrm>
          <a:off x="2700403" y="351595"/>
          <a:ext cx="6920252" cy="2605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C0E989-8D3F-2736-3E5D-0FF5F08E1D5B}"/>
              </a:ext>
            </a:extLst>
          </p:cNvPr>
          <p:cNvSpPr txBox="1"/>
          <p:nvPr/>
        </p:nvSpPr>
        <p:spPr>
          <a:xfrm>
            <a:off x="1228116" y="3096825"/>
            <a:ext cx="10707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Hourly Rate of Male Research Scientists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average hourly rate for male research scientists is $114.45.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rate suggests a highly skilled position with competitive compensation.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However, no comparison with female employees or other roles is provided, which limits insight into pay equity.</a:t>
            </a:r>
          </a:p>
        </p:txBody>
      </p:sp>
    </p:spTree>
    <p:extLst>
      <p:ext uri="{BB962C8B-B14F-4D97-AF65-F5344CB8AC3E}">
        <p14:creationId xmlns:p14="http://schemas.microsoft.com/office/powerpoint/2010/main" val="356327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80D37-F00D-7A7E-340A-C20B98488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D409532-E8DC-2217-76E8-0AD0D3A3C7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3839880"/>
              </p:ext>
            </p:extLst>
          </p:nvPr>
        </p:nvGraphicFramePr>
        <p:xfrm>
          <a:off x="2733505" y="214009"/>
          <a:ext cx="6721813" cy="2831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BB6FBD-44FB-9877-A837-43B6233CC1C1}"/>
              </a:ext>
            </a:extLst>
          </p:cNvPr>
          <p:cNvSpPr txBox="1"/>
          <p:nvPr/>
        </p:nvSpPr>
        <p:spPr>
          <a:xfrm>
            <a:off x="1189205" y="3571480"/>
            <a:ext cx="103601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Attrition Rate by Monthly Income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Employees earning ₹10,000–₹30,000 have slightly lower attrition rates (around 49.8–50%).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Attrition increases with higher income levels, reaching 51.26% for the ₹50,000–₹60,000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trend might indicate that higher-paid employees leave for better opportunities or due to job dissatisfaction unrelated to salary.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relationship between income and attrition is not strongly negative, showing mixed</a:t>
            </a:r>
            <a:r>
              <a:rPr lang="en-US" b="1" dirty="0"/>
              <a:t> </a:t>
            </a:r>
            <a:r>
              <a:rPr lang="en-US" dirty="0"/>
              <a:t>factors influencing attrition.</a:t>
            </a:r>
          </a:p>
        </p:txBody>
      </p:sp>
    </p:spTree>
    <p:extLst>
      <p:ext uri="{BB962C8B-B14F-4D97-AF65-F5344CB8AC3E}">
        <p14:creationId xmlns:p14="http://schemas.microsoft.com/office/powerpoint/2010/main" val="355825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CCF04-3D2F-8F6B-2D35-2449A0210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1DED9-EB42-56F8-74EF-FB25268F326C}"/>
              </a:ext>
            </a:extLst>
          </p:cNvPr>
          <p:cNvSpPr txBox="1"/>
          <p:nvPr/>
        </p:nvSpPr>
        <p:spPr>
          <a:xfrm>
            <a:off x="1171340" y="3571480"/>
            <a:ext cx="105131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of Working Year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Software department has the highest average working years (20.65), showing strong employee retention.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(20.62) and Support (20.48) also show above-average tenure.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Research &amp; Development department has the lowest average working years (20.30), aligning with its high attrition 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indicates that R&amp;D employees tend to leave earlier, possibly due to workload or growth limitations.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D506630-1243-779A-8034-4CADDA0F0E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1968511"/>
              </p:ext>
            </p:extLst>
          </p:nvPr>
        </p:nvGraphicFramePr>
        <p:xfrm>
          <a:off x="2013627" y="401266"/>
          <a:ext cx="7791854" cy="2750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452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BC8D-272D-E40E-9802-D5D65D64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92FA1-2403-0159-7848-9CBFF62FD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5ACA72D-FAF7-D1B2-2A27-B84D83B5F6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121622"/>
              </p:ext>
            </p:extLst>
          </p:nvPr>
        </p:nvGraphicFramePr>
        <p:xfrm>
          <a:off x="2266545" y="267185"/>
          <a:ext cx="8083685" cy="2585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2D5DBD-F905-F0A9-6E03-75615507C94C}"/>
              </a:ext>
            </a:extLst>
          </p:cNvPr>
          <p:cNvSpPr txBox="1"/>
          <p:nvPr/>
        </p:nvSpPr>
        <p:spPr>
          <a:xfrm>
            <a:off x="1412941" y="3358277"/>
            <a:ext cx="100462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Attrition Rate by Education Field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Medical field employees have the highest attrition rate (50.81%), indicating high job stress or demanding work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Life Sciences shows the lowest attrition (49.41%), suggesting better job satisfaction or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fields such as Human Resources (50.28%), Marketing (50.07%), and Technical</a:t>
            </a:r>
            <a:r>
              <a:rPr lang="en-US" b="1" dirty="0"/>
              <a:t> </a:t>
            </a:r>
            <a:r>
              <a:rPr lang="en-US" dirty="0"/>
              <a:t>Degree (50.06%) remain around the average attrition mark (≈50%).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attrition rates are quite consistent across education fields, with only slight variations.</a:t>
            </a:r>
          </a:p>
        </p:txBody>
      </p:sp>
    </p:spTree>
    <p:extLst>
      <p:ext uri="{BB962C8B-B14F-4D97-AF65-F5344CB8AC3E}">
        <p14:creationId xmlns:p14="http://schemas.microsoft.com/office/powerpoint/2010/main" val="394334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B6AF-9790-5B49-A50F-1E6CA589F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342C7C-02D8-93D9-6A5B-417C22121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049188"/>
              </p:ext>
            </p:extLst>
          </p:nvPr>
        </p:nvGraphicFramePr>
        <p:xfrm>
          <a:off x="2629321" y="194555"/>
          <a:ext cx="7390168" cy="341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4BAE6B-4564-5600-57A5-43897184CC7A}"/>
              </a:ext>
            </a:extLst>
          </p:cNvPr>
          <p:cNvSpPr txBox="1"/>
          <p:nvPr/>
        </p:nvSpPr>
        <p:spPr>
          <a:xfrm>
            <a:off x="1106731" y="3974953"/>
            <a:ext cx="104353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Work-Life Balance by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Manufacturing Director, Research Director, and Sales Executive roles show higher work-life balance ratings, indicating better satisfaction with work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Developers and Human Resources employees have lower work-life balance ratings, possibly due to workload or role demands.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Variation across roles suggests that managerial and senior-level roles often have</a:t>
            </a:r>
            <a:r>
              <a:rPr lang="en-US" b="1" dirty="0"/>
              <a:t> better </a:t>
            </a:r>
            <a:r>
              <a:rPr lang="en-US" dirty="0"/>
              <a:t>balance compared to technical or support roles.</a:t>
            </a:r>
          </a:p>
        </p:txBody>
      </p:sp>
    </p:spTree>
    <p:extLst>
      <p:ext uri="{BB962C8B-B14F-4D97-AF65-F5344CB8AC3E}">
        <p14:creationId xmlns:p14="http://schemas.microsoft.com/office/powerpoint/2010/main" val="2380275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D3C96-D76D-C429-5B22-B6EE9036B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6A2BD8A-0AA4-7366-9808-A7493E6C88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5260934"/>
              </p:ext>
            </p:extLst>
          </p:nvPr>
        </p:nvGraphicFramePr>
        <p:xfrm>
          <a:off x="2928026" y="306097"/>
          <a:ext cx="6838544" cy="252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2E7961E-3E46-BFD3-9105-974B38BCEB8B}"/>
              </a:ext>
            </a:extLst>
          </p:cNvPr>
          <p:cNvSpPr txBox="1"/>
          <p:nvPr/>
        </p:nvSpPr>
        <p:spPr>
          <a:xfrm>
            <a:off x="1383760" y="3537362"/>
            <a:ext cx="97155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Attrition Rate by Job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females, attrition is highest (50.75%) at low satisfaction levels (rating 1) and decreases with higher satisfaction (49.74% at rating 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males, a similar trend appears — lowest attrition (49.33%) at rating 1 but a slight increase (50.57%) at rating 4, showing less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general, job satisfaction impacts attrition, with dissatisfied employees more likely to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Females show a stronger correlation between satisfaction and attrition compared to males.</a:t>
            </a:r>
          </a:p>
        </p:txBody>
      </p:sp>
    </p:spTree>
    <p:extLst>
      <p:ext uri="{BB962C8B-B14F-4D97-AF65-F5344CB8AC3E}">
        <p14:creationId xmlns:p14="http://schemas.microsoft.com/office/powerpoint/2010/main" val="247374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FEEA1-71DB-AAD7-CC0E-22DE49812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3CC6182-2A54-4691-219A-C7A535E1FE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623708"/>
              </p:ext>
            </p:extLst>
          </p:nvPr>
        </p:nvGraphicFramePr>
        <p:xfrm>
          <a:off x="2636196" y="228275"/>
          <a:ext cx="7227651" cy="252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300F26-C7C0-784C-331B-E82C609543C9}"/>
              </a:ext>
            </a:extLst>
          </p:cNvPr>
          <p:cNvSpPr txBox="1"/>
          <p:nvPr/>
        </p:nvSpPr>
        <p:spPr>
          <a:xfrm>
            <a:off x="1254868" y="3444240"/>
            <a:ext cx="107603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Attrition Rate by Gender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 the 18–25 and 26–35 age groups, males show slightly higher</a:t>
            </a:r>
            <a:r>
              <a:rPr lang="en-US" b="1" dirty="0"/>
              <a:t> </a:t>
            </a:r>
            <a:r>
              <a:rPr lang="en-US" dirty="0"/>
              <a:t>attrition rates (around 51%),  suggesting early-career instability.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For 36–45, both genders show lower attrition (~49%), indicating more career stability with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 the</a:t>
            </a:r>
            <a:r>
              <a:rPr lang="en-US" b="1" dirty="0"/>
              <a:t> </a:t>
            </a:r>
            <a:r>
              <a:rPr lang="en-US" dirty="0"/>
              <a:t>46–60</a:t>
            </a:r>
            <a:r>
              <a:rPr lang="en-US" b="1" dirty="0"/>
              <a:t> </a:t>
            </a:r>
            <a:r>
              <a:rPr lang="en-US" dirty="0"/>
              <a:t>group, both male and female attrition rates rise slightly, possibly due to retirement or burnout factors.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Overall, gender differences are minor, but younger employees are more prone to           attrition.</a:t>
            </a:r>
          </a:p>
        </p:txBody>
      </p:sp>
    </p:spTree>
    <p:extLst>
      <p:ext uri="{BB962C8B-B14F-4D97-AF65-F5344CB8AC3E}">
        <p14:creationId xmlns:p14="http://schemas.microsoft.com/office/powerpoint/2010/main" val="420376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668DD-10B7-7680-FE53-652A4E0C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19F9EBA-B780-6364-C578-9C093E22C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4306323"/>
              </p:ext>
            </p:extLst>
          </p:nvPr>
        </p:nvGraphicFramePr>
        <p:xfrm>
          <a:off x="1867711" y="392835"/>
          <a:ext cx="7908587" cy="2453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540F63-0285-0991-CDF6-48FFF59A3930}"/>
              </a:ext>
            </a:extLst>
          </p:cNvPr>
          <p:cNvSpPr txBox="1"/>
          <p:nvPr/>
        </p:nvSpPr>
        <p:spPr>
          <a:xfrm>
            <a:off x="914400" y="3188432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Attrition Rate by Job Satisfaction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For female employees, attrition is highest (50.75%) at the lowest satisfaction level (Rating 1) and decreases gradually to 49.74% at the highest satisfaction level (Rating 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For male employees, attrition is lowest (49.33%) at Rating 1, then increases slightly to 50.57% at Rating 4, showing a less consistent pattern.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Overall, females show a stronger negative correlation between job satisfaction and attrition    higher satisfaction leads to lower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 contrast, male attrition remains relatively stable regardless of satisfaction level, suggesting that other factors may influence their decision to stay or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analysis indicates that improving job satisfaction, especially among female employees, can help reduce attrition rates.</a:t>
            </a:r>
          </a:p>
        </p:txBody>
      </p:sp>
    </p:spTree>
    <p:extLst>
      <p:ext uri="{BB962C8B-B14F-4D97-AF65-F5344CB8AC3E}">
        <p14:creationId xmlns:p14="http://schemas.microsoft.com/office/powerpoint/2010/main" val="3037188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D41AF6-CBF2-E90F-51A5-4FC79304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16330F-F9BA-10C3-C4F0-EF5708EB67F8}"/>
              </a:ext>
            </a:extLst>
          </p:cNvPr>
          <p:cNvSpPr txBox="1"/>
          <p:nvPr/>
        </p:nvSpPr>
        <p:spPr>
          <a:xfrm>
            <a:off x="4344013" y="2727246"/>
            <a:ext cx="38055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Dashboard’s</a:t>
            </a:r>
            <a:endParaRPr lang="en-IN" sz="5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2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DF6956-0AFB-EAF6-F58E-F8C0F836B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FAA24C-60F2-FC9E-92DC-F791558FCC2A}"/>
              </a:ext>
            </a:extLst>
          </p:cNvPr>
          <p:cNvSpPr txBox="1"/>
          <p:nvPr/>
        </p:nvSpPr>
        <p:spPr>
          <a:xfrm>
            <a:off x="4986943" y="0"/>
            <a:ext cx="229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37107-B054-876F-0DE5-7EA38BC48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04684"/>
            <a:ext cx="12192000" cy="5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1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3ED55F-FDC8-A731-96E6-B47EB8AC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1D82E0-FA21-9187-7BE1-973AF2792E91}"/>
              </a:ext>
            </a:extLst>
          </p:cNvPr>
          <p:cNvSpPr txBox="1"/>
          <p:nvPr/>
        </p:nvSpPr>
        <p:spPr>
          <a:xfrm>
            <a:off x="5039519" y="0"/>
            <a:ext cx="271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F0FA4-B24A-1541-01D3-DFA026CA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1" y="386862"/>
            <a:ext cx="10942655" cy="642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DF1D316-5893-EB69-1B9C-81D38F10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C849038-77F2-6F27-F63F-81554813F2B1}"/>
              </a:ext>
            </a:extLst>
          </p:cNvPr>
          <p:cNvSpPr txBox="1"/>
          <p:nvPr/>
        </p:nvSpPr>
        <p:spPr>
          <a:xfrm>
            <a:off x="4889183" y="0"/>
            <a:ext cx="3083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279423-3482-51B6-E0CB-ED0DB6BC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3" y="430393"/>
            <a:ext cx="11284971" cy="642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30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7E55B5-3576-C1B7-7B4D-B909A742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A8FD7E-A0D6-7A2A-264C-CD9DCE7B5AEC}"/>
              </a:ext>
            </a:extLst>
          </p:cNvPr>
          <p:cNvSpPr txBox="1"/>
          <p:nvPr/>
        </p:nvSpPr>
        <p:spPr>
          <a:xfrm>
            <a:off x="5106353" y="0"/>
            <a:ext cx="2300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C4944-63B2-E81B-E032-B82DDD512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1" y="541773"/>
            <a:ext cx="11595798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7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A7D9EB-4A99-84A3-E2EA-E672EC6EBCB6}"/>
              </a:ext>
            </a:extLst>
          </p:cNvPr>
          <p:cNvSpPr txBox="1"/>
          <p:nvPr/>
        </p:nvSpPr>
        <p:spPr>
          <a:xfrm>
            <a:off x="3985501" y="0"/>
            <a:ext cx="3832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06B66C-74FF-D55C-AB0D-0F6CBF9D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36" y="1859342"/>
            <a:ext cx="116862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/>
              <a:t>Data Cleaning &amp; Preprocessing</a:t>
            </a:r>
            <a:r>
              <a:rPr lang="en-US" dirty="0"/>
              <a:t> – Handling null values, duplicate entries, and formatting data for analysis took significant time.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/>
              <a:t>Identifying Key Metrics</a:t>
            </a:r>
            <a:r>
              <a:rPr lang="en-US" dirty="0"/>
              <a:t> – Selecting the most relevant KPIs (like attrition rate, job satisfaction, income) among many available fields was challenging.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1" dirty="0"/>
              <a:t>Interpreting Results</a:t>
            </a:r>
            <a:r>
              <a:rPr lang="en-US" dirty="0"/>
              <a:t> – Some correlations (e.g., between income and attrition) were not straightforward, requiring deeper analysis.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Team Coordination</a:t>
            </a:r>
            <a:r>
              <a:rPr lang="en-US" dirty="0"/>
              <a:t> – </a:t>
            </a:r>
            <a:r>
              <a:rPr lang="en-US" dirty="0" err="1"/>
              <a:t>Synchronising</a:t>
            </a:r>
            <a:r>
              <a:rPr lang="en-US" dirty="0"/>
              <a:t> work among multiple members while maintaining consistency in findings and visuals.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50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313BCE-9A87-C59C-2799-6F5F01518559}"/>
              </a:ext>
            </a:extLst>
          </p:cNvPr>
          <p:cNvSpPr txBox="1"/>
          <p:nvPr/>
        </p:nvSpPr>
        <p:spPr>
          <a:xfrm>
            <a:off x="4474029" y="116784"/>
            <a:ext cx="60943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EB4FCE-EFBB-03DE-35A4-7BE5D3E01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36" y="1859339"/>
            <a:ext cx="116862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overall employee attrition rate is around 50%, showing moderate turnover across all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Research &amp; Development department records the highest attrition, indicating potential job dissatisfaction or workload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 satisfaction and work-life balance are major factors influencing employee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Employees with higher satisfaction ratings tend to stay longer in the organization.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Income levels show mixed impact on attrition — higher salaries don’t always guarantee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Younger employees (18–35 years) have higher attrition rates compared to older age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Departments with longer average working years show better engagement and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Improving career growth opportunities, satisfaction, and balance can significantly reduce attrition.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Overall, HR Analytics helps in making data-driven decisions to improve employee retention and organizational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00284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5077FC-AE82-C907-C08B-D87A3AA9AEDA}"/>
              </a:ext>
            </a:extLst>
          </p:cNvPr>
          <p:cNvSpPr txBox="1"/>
          <p:nvPr/>
        </p:nvSpPr>
        <p:spPr>
          <a:xfrm>
            <a:off x="4252966" y="2719308"/>
            <a:ext cx="60943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467575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739</TotalTime>
  <Words>1204</Words>
  <Application>Microsoft Office PowerPoint</Application>
  <PresentationFormat>Widescreen</PresentationFormat>
  <Paragraphs>113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Century Gothic</vt:lpstr>
      <vt:lpstr>Courier New</vt:lpstr>
      <vt:lpstr>Sagona Book</vt:lpstr>
      <vt:lpstr>Times New Roman</vt:lpstr>
      <vt:lpstr>Wingdings 3</vt:lpstr>
      <vt:lpstr>Wisp</vt:lpstr>
      <vt:lpstr>HR Analytics Project </vt:lpstr>
      <vt:lpstr>Index </vt:lpstr>
      <vt:lpstr>Introduction </vt:lpstr>
      <vt:lpstr>KPIS And Observations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Maurya</dc:creator>
  <cp:lastModifiedBy>Ravi Maurya</cp:lastModifiedBy>
  <cp:revision>37</cp:revision>
  <dcterms:created xsi:type="dcterms:W3CDTF">2025-09-03T13:14:58Z</dcterms:created>
  <dcterms:modified xsi:type="dcterms:W3CDTF">2025-11-08T12:56:55Z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